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notate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20040"/>
            <a:ext cx="1691640" cy="9711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" y="107899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1">
                <a:solidFill>
                  <a:srgbClr val="FFFFFF"/>
                </a:solidFill>
                <a:latin typeface="Calibri"/>
              </a:rPr>
              <a:t>SAM + CLIP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7899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1">
                <a:solidFill>
                  <a:srgbClr val="FFFFFF"/>
                </a:solidFill>
                <a:latin typeface="Calibri"/>
              </a:rPr>
              <a:t>RGB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691640"/>
            <a:ext cx="3429000" cy="2148840"/>
          </a:xfrm>
          <a:prstGeom prst="rect">
            <a:avLst/>
          </a:prstGeom>
          <a:solidFill>
            <a:srgbClr val="FFFFFF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bot-rviz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1764792"/>
            <a:ext cx="881166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8328" y="253288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1">
                <a:solidFill>
                  <a:srgbClr val="1A242E"/>
                </a:solidFill>
                <a:latin typeface="Calibri"/>
              </a:rPr>
              <a:t>TF · scan</a:t>
            </a:r>
          </a:p>
        </p:txBody>
      </p:sp>
      <p:pic>
        <p:nvPicPr>
          <p:cNvPr id="9" name="Picture 8" descr="rviz_rom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1764792"/>
            <a:ext cx="1206113" cy="960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2532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1">
                <a:solidFill>
                  <a:srgbClr val="1A242E"/>
                </a:solidFill>
                <a:latin typeface="Calibri"/>
              </a:rPr>
              <a:t>costmap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" y="2880360"/>
            <a:ext cx="1600200" cy="822960"/>
          </a:xfrm>
          <a:prstGeom prst="rect">
            <a:avLst/>
          </a:prstGeom>
          <a:solidFill>
            <a:srgbClr val="FFFFFF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A242E"/>
                </a:solidFill>
                <a:latin typeface="Calibri"/>
              </a:rPr>
              <a:t>Lidar</a:t>
            </a:r>
          </a:p>
          <a:p>
            <a:pPr algn="ctr"/>
            <a:r>
              <a:rPr sz="850" b="0">
                <a:solidFill>
                  <a:srgbClr val="445668"/>
                </a:solidFill>
                <a:latin typeface="Calibri"/>
              </a:rPr>
              <a:t>planar, 0.15-16 m</a:t>
            </a:r>
          </a:p>
          <a:p>
            <a:pPr algn="ctr"/>
            <a:r>
              <a:rPr sz="850" b="0">
                <a:solidFill>
                  <a:srgbClr val="445668"/>
                </a:solidFill>
                <a:latin typeface="Calibri"/>
              </a:rPr>
              <a:t>720 beams @ 10 Hz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2880360"/>
            <a:ext cx="1572768" cy="45720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A242E"/>
                </a:solidFill>
                <a:latin typeface="Calibri"/>
              </a:rPr>
              <a:t>Robot 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3364992"/>
            <a:ext cx="1097280" cy="292608"/>
          </a:xfrm>
          <a:prstGeom prst="rect">
            <a:avLst/>
          </a:prstGeom>
          <a:solidFill>
            <a:srgbClr val="FFFFFF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>
                <a:solidFill>
                  <a:srgbClr val="1A242E"/>
                </a:solidFill>
                <a:latin typeface="Calibri"/>
              </a:rPr>
              <a:t>x, y, z, 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320040"/>
            <a:ext cx="3794760" cy="2578608"/>
          </a:xfrm>
          <a:prstGeom prst="rect">
            <a:avLst/>
          </a:prstGeom>
          <a:solidFill>
            <a:srgbClr val="E9DCF0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1A242E"/>
                </a:solidFill>
                <a:latin typeface="Calibri"/>
              </a:rPr>
              <a:t>VLM Node</a:t>
            </a:r>
          </a:p>
        </p:txBody>
      </p:sp>
      <p:sp>
        <p:nvSpPr>
          <p:cNvPr id="16" name="Oval 15"/>
          <p:cNvSpPr/>
          <p:nvPr/>
        </p:nvSpPr>
        <p:spPr>
          <a:xfrm>
            <a:off x="4242816" y="795528"/>
            <a:ext cx="914400" cy="2743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8" y="1069848"/>
            <a:ext cx="1691640" cy="640080"/>
          </a:xfrm>
          <a:prstGeom prst="rect">
            <a:avLst/>
          </a:prstGeom>
          <a:solidFill>
            <a:srgbClr val="DCE9F8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Class-agnostic mask</a:t>
            </a:r>
          </a:p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proposals over the frame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59552" y="1709928"/>
            <a:ext cx="0" cy="146304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28032" y="1691640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i="1" b="0">
                <a:solidFill>
                  <a:srgbClr val="1A242E"/>
                </a:solidFill>
                <a:latin typeface="Consolas"/>
              </a:rPr>
              <a:t>mᵢ ∈ M</a:t>
            </a:r>
          </a:p>
        </p:txBody>
      </p:sp>
      <p:sp>
        <p:nvSpPr>
          <p:cNvPr id="20" name="Oval 19"/>
          <p:cNvSpPr/>
          <p:nvPr/>
        </p:nvSpPr>
        <p:spPr>
          <a:xfrm>
            <a:off x="4242816" y="1856232"/>
            <a:ext cx="914400" cy="274320"/>
          </a:xfrm>
          <a:prstGeom prst="ellipse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8" y="2130552"/>
            <a:ext cx="1691640" cy="603504"/>
          </a:xfrm>
          <a:prstGeom prst="rect">
            <a:avLst/>
          </a:prstGeom>
          <a:solidFill>
            <a:srgbClr val="DCE9F8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Open-vocabulary labels</a:t>
            </a:r>
          </a:p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per mask, with confidence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188720"/>
            <a:ext cx="146304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1">
                <a:solidFill>
                  <a:srgbClr val="1A242E"/>
                </a:solidFill>
                <a:latin typeface="Calibri"/>
              </a:rPr>
              <a:t>Grounded objects</a:t>
            </a:r>
          </a:p>
          <a:p>
            <a:pPr algn="ctr"/>
            <a:r>
              <a:rPr sz="500" b="0">
                <a:solidFill>
                  <a:srgbClr val="1A242E"/>
                </a:solidFill>
                <a:latin typeface="Calibri"/>
              </a:rPr>
              <a:t/>
            </a:r>
          </a:p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television · door</a:t>
            </a:r>
          </a:p>
          <a:p>
            <a:pPr algn="ctr"/>
            <a:r>
              <a:rPr sz="950" b="0">
                <a:solidFill>
                  <a:srgbClr val="445668"/>
                </a:solidFill>
                <a:latin typeface="Calibri"/>
              </a:rPr>
              <a:t>bookshelf · chair</a:t>
            </a:r>
          </a:p>
          <a:p>
            <a:pPr algn="ctr"/>
            <a:r>
              <a:rPr sz="850" b="0">
                <a:solidFill>
                  <a:srgbClr val="6E8092"/>
                </a:solidFill>
                <a:latin typeface="Calibri"/>
              </a:rPr>
              <a:t>with bearing and range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824727" y="2103120"/>
            <a:ext cx="256033" cy="22860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815584" y="2039112"/>
            <a:ext cx="502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1" b="0">
                <a:solidFill>
                  <a:srgbClr val="1A242E"/>
                </a:solidFill>
                <a:latin typeface="Consolas"/>
              </a:rPr>
              <a:t>oₖ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20040"/>
            <a:ext cx="3566160" cy="77724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1A242E"/>
                </a:solidFill>
                <a:latin typeface="Calibri"/>
              </a:rPr>
              <a:t>User commands, goal descriptions,</a:t>
            </a:r>
          </a:p>
          <a:p>
            <a:pPr algn="ctr"/>
            <a:r>
              <a:rPr sz="1100" b="0">
                <a:solidFill>
                  <a:srgbClr val="1A242E"/>
                </a:solidFill>
                <a:latin typeface="Calibri"/>
              </a:rPr>
              <a:t>queries and general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23444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i="0" b="0">
                <a:solidFill>
                  <a:srgbClr val="1A242E"/>
                </a:solidFill>
                <a:latin typeface="Consolas"/>
              </a:rPr>
              <a:t>L  =  { l₁,  l₂,  … ,  lₙ }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87000" y="1572768"/>
            <a:ext cx="0" cy="393192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ui-navigation-p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011680"/>
            <a:ext cx="3977639" cy="237546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275320" y="2011680"/>
            <a:ext cx="3977639" cy="2377440"/>
          </a:xfrm>
          <a:prstGeom prst="rect">
            <a:avLst/>
          </a:prstGeom>
          <a:noFill/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208483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1">
                <a:solidFill>
                  <a:srgbClr val="1A242E"/>
                </a:solidFill>
                <a:latin typeface="Calibri"/>
              </a:rPr>
              <a:t>Command centre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71800"/>
            <a:ext cx="3383280" cy="1417320"/>
          </a:xfrm>
          <a:prstGeom prst="rect">
            <a:avLst/>
          </a:prstGeom>
          <a:solidFill>
            <a:srgbClr val="D9EFD9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08152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1A242E"/>
                </a:solidFill>
                <a:latin typeface="Calibri"/>
              </a:rPr>
              <a:t>LLM Node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355848"/>
            <a:ext cx="1371600" cy="457200"/>
          </a:xfrm>
          <a:prstGeom prst="rect">
            <a:avLst/>
          </a:prstGeom>
          <a:solidFill>
            <a:srgbClr val="DCE9F8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0">
                <a:solidFill>
                  <a:srgbClr val="1A242E"/>
                </a:solidFill>
                <a:latin typeface="Calibri"/>
              </a:rPr>
              <a:t>gpt-4.1-mini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86200"/>
            <a:ext cx="1371600" cy="384048"/>
          </a:xfrm>
          <a:prstGeom prst="rect">
            <a:avLst/>
          </a:prstGeom>
          <a:solidFill>
            <a:srgbClr val="DCE9F8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0">
                <a:solidFill>
                  <a:srgbClr val="1A242E"/>
                </a:solidFill>
                <a:latin typeface="Calibri"/>
              </a:rPr>
              <a:t>Task dictionary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538728"/>
            <a:ext cx="1417320" cy="566928"/>
          </a:xfrm>
          <a:prstGeom prst="rect">
            <a:avLst/>
          </a:prstGeom>
          <a:solidFill>
            <a:srgbClr val="DCE9F8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50" b="0">
                <a:solidFill>
                  <a:srgbClr val="1A242E"/>
                </a:solidFill>
                <a:latin typeface="Calibri"/>
              </a:rPr>
              <a:t>LangGraph policy</a:t>
            </a:r>
          </a:p>
          <a:p>
            <a:pPr algn="ctr"/>
            <a:r>
              <a:rPr sz="900" b="0">
                <a:solidFill>
                  <a:srgbClr val="445668"/>
                </a:solidFill>
                <a:latin typeface="Calibri"/>
              </a:rPr>
              <a:t>verify · recover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0" y="3813048"/>
            <a:ext cx="0" cy="73152"/>
          </a:xfrm>
          <a:prstGeom prst="line">
            <a:avLst/>
          </a:prstGeom>
          <a:ln w="1270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715000" y="3886200"/>
            <a:ext cx="228600" cy="182880"/>
          </a:xfrm>
          <a:prstGeom prst="line">
            <a:avLst/>
          </a:prstGeom>
          <a:ln w="1270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715000" y="3584448"/>
            <a:ext cx="228600" cy="118872"/>
          </a:xfrm>
          <a:prstGeom prst="line">
            <a:avLst/>
          </a:prstGeom>
          <a:ln w="1270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60720" y="2898648"/>
            <a:ext cx="91440" cy="73152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43800" y="3200400"/>
            <a:ext cx="731520" cy="45720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657600" y="4617720"/>
            <a:ext cx="5120640" cy="1965960"/>
          </a:xfrm>
          <a:prstGeom prst="rect">
            <a:avLst/>
          </a:prstGeom>
          <a:solidFill>
            <a:srgbClr val="ECEEEF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628192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i="0" b="1">
                <a:solidFill>
                  <a:srgbClr val="1A242E"/>
                </a:solidFill>
                <a:latin typeface="Calibri"/>
              </a:rPr>
              <a:t>TEN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94760" y="4910328"/>
            <a:ext cx="2651760" cy="146304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397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49651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1">
                <a:solidFill>
                  <a:srgbClr val="8B1A4B"/>
                </a:solidFill>
                <a:latin typeface="Calibri"/>
              </a:rPr>
              <a:t>Navigation Planner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13632" y="5276088"/>
            <a:ext cx="1170432" cy="45720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1A242E"/>
                </a:solidFill>
                <a:latin typeface="Calibri"/>
              </a:rPr>
              <a:t>Command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38928" y="5276088"/>
            <a:ext cx="1170432" cy="45720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1A242E"/>
                </a:solidFill>
                <a:latin typeface="Calibri"/>
              </a:rPr>
              <a:t>Localisation (AMCL)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13632" y="5824728"/>
            <a:ext cx="1170432" cy="45720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1A242E"/>
                </a:solidFill>
                <a:latin typeface="Calibri"/>
              </a:rPr>
              <a:t>Path planning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38928" y="5824728"/>
            <a:ext cx="1170432" cy="457200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50" b="0">
                <a:solidFill>
                  <a:srgbClr val="1A242E"/>
                </a:solidFill>
                <a:latin typeface="Calibri"/>
              </a:rPr>
              <a:t>Mapping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94690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Gₙ(l)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4946904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l ∈ G_d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23036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W(c)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5230367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l ∈ 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5138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Sen(Data)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551383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l ∈ 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7972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G_c(l)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5797296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l ∈ G_c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60807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ST(·)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608076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1A242E"/>
                </a:solidFill>
                <a:latin typeface="Consolas"/>
              </a:rPr>
              <a:t>l ∈ sT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5120640" y="4389120"/>
            <a:ext cx="731520" cy="22860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57600" y="3154680"/>
            <a:ext cx="0" cy="228600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20240" y="1234440"/>
            <a:ext cx="0" cy="45720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657600" y="777240"/>
            <a:ext cx="274320" cy="54864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915400" y="4617720"/>
            <a:ext cx="3017520" cy="384048"/>
          </a:xfrm>
          <a:prstGeom prst="rect">
            <a:avLst/>
          </a:prstGeom>
          <a:solidFill>
            <a:srgbClr val="FBE3C4"/>
          </a:solidFill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A242E"/>
                </a:solidFill>
                <a:latin typeface="Calibri"/>
              </a:rPr>
              <a:t>Action  (Aₑ)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5074920"/>
            <a:ext cx="3017520" cy="1508760"/>
          </a:xfrm>
          <a:prstGeom prst="rect">
            <a:avLst/>
          </a:prstGeom>
          <a:noFill/>
          <a:ln w="11430">
            <a:solidFill>
              <a:srgbClr val="33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8778240" y="5715000"/>
            <a:ext cx="137160" cy="182880"/>
          </a:xfrm>
          <a:prstGeom prst="line">
            <a:avLst/>
          </a:prstGeom>
          <a:ln w="17780">
            <a:solidFill>
              <a:srgbClr val="333A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Picture 66" descr="rgb_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5960" y="320040"/>
            <a:ext cx="1691640" cy="969264"/>
          </a:xfrm>
          <a:prstGeom prst="rect">
            <a:avLst/>
          </a:prstGeom>
        </p:spPr>
      </p:pic>
      <p:pic>
        <p:nvPicPr>
          <p:cNvPr id="68" name="Picture 67" descr="world_cr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5074920"/>
            <a:ext cx="3017520" cy="16331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